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2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in Graphic Element 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-1428750"/>
            <a:ext cx="5334000" cy="5334000"/>
          </a:xfrm>
          <a:prstGeom prst="rect">
            <a:avLst/>
          </a:prstGeom>
        </p:spPr>
      </p:pic>
      <p:pic>
        <p:nvPicPr>
          <p:cNvPr id="3" name="Picture 2" descr="motif-whit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50" y="9715500"/>
            <a:ext cx="4381500" cy="4381500"/>
          </a:xfrm>
          <a:prstGeom prst="rect">
            <a:avLst/>
          </a:prstGeom>
        </p:spPr>
      </p:pic>
      <p:pic>
        <p:nvPicPr>
          <p:cNvPr id="4" name="Picture 3" descr="Kyn Skyn Logoword White 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762000"/>
            <a:ext cx="939239" cy="438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35433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D4952A"/>
                </a:solidFill>
                <a:latin typeface="ABC Maxi Sharp"/>
              </a:rPr>
              <a:t>THE SCALP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114800"/>
            <a:ext cx="8763000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50" b="0">
                <a:solidFill>
                  <a:srgbClr val="FFF4CE"/>
                </a:solidFill>
                <a:latin typeface="STK Bureau Serif"/>
              </a:rPr>
              <a:t>It looks like dandruff.</a:t>
            </a:r>
            <a:br/>
            <a:r>
              <a:rPr sz="8850" b="0">
                <a:solidFill>
                  <a:srgbClr val="FFF4CE"/>
                </a:solidFill>
                <a:latin typeface="STK Bureau Serif"/>
              </a:rPr>
              <a:t/>
            </a:r>
            <a:r>
              <a:rPr sz="8850" b="0">
                <a:solidFill>
                  <a:srgbClr val="F8B044"/>
                </a:solidFill>
                <a:latin typeface="STK Bureau Serif"/>
              </a:rPr>
              <a:t>It often isn't.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8153400"/>
            <a:ext cx="7620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0">
                <a:solidFill>
                  <a:srgbClr val="DAE3E7"/>
                </a:solidFill>
                <a:latin typeface="STK Bureau Sans"/>
              </a:rPr>
              <a:t>Why scalp flaking keeps coming back, and what finally treats it.</a:t>
            </a:r>
          </a:p>
        </p:txBody>
      </p:sp>
      <p:pic>
        <p:nvPicPr>
          <p:cNvPr id="8" name="Picture 7" descr="star-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1563350"/>
            <a:ext cx="400050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7800" y="1163955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0" spc="300">
                <a:solidFill>
                  <a:srgbClr val="D4952A"/>
                </a:solidFill>
                <a:latin typeface="ABC Maxi Sharp"/>
              </a:rPr>
              <a:t>01 /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116014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0">
                <a:solidFill>
                  <a:srgbClr val="DAE3E7"/>
                </a:solidFill>
                <a:latin typeface="STK Bureau Sans"/>
              </a:rPr>
              <a:t>swipe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96350" y="11696700"/>
            <a:ext cx="514350" cy="228600"/>
          </a:xfrm>
          <a:prstGeom prst="rightArrow">
            <a:avLst/>
          </a:prstGeom>
          <a:solidFill>
            <a:srgbClr val="DA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2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ynSkyn_100420252587minks_media.jpg"/>
          <p:cNvPicPr>
            <a:picLocks noChangeAspect="1"/>
          </p:cNvPicPr>
          <p:nvPr/>
        </p:nvPicPr>
        <p:blipFill>
          <a:blip r:embed="rId2"/>
          <a:srcRect t="1997" b="14644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overlay-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24800" y="666750"/>
            <a:ext cx="1600200" cy="590550"/>
          </a:xfrm>
          <a:prstGeom prst="roundRect">
            <a:avLst>
              <a:gd name="adj" fmla="val 50000"/>
            </a:avLst>
          </a:prstGeom>
          <a:solidFill>
            <a:srgbClr val="2A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50" spc="300">
                <a:solidFill>
                  <a:srgbClr val="FFF4CE"/>
                </a:solidFill>
                <a:latin typeface="ABC Maxi Sharp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67818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F8B044"/>
                </a:solidFill>
                <a:latin typeface="ABC Maxi Sharp"/>
              </a:rPr>
              <a:t>THE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7353300"/>
            <a:ext cx="876300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50" b="0">
                <a:solidFill>
                  <a:srgbClr val="FFF4CE"/>
                </a:solidFill>
                <a:latin typeface="STK Bureau Serif"/>
              </a:rPr>
              <a:t>The two-week</a:t>
            </a:r>
            <a:br/>
            <a:r>
              <a:rPr sz="6450" b="0">
                <a:solidFill>
                  <a:srgbClr val="FFF4CE"/>
                </a:solidFill>
                <a:latin typeface="STK Bureau Serif"/>
              </a:rPr>
              <a:t>shampoo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9448800"/>
            <a:ext cx="847725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0">
                <a:solidFill>
                  <a:srgbClr val="DAE3E7"/>
                </a:solidFill>
                <a:latin typeface="STK Bureau Sans"/>
              </a:rPr>
              <a:t>A new shampoo helps for two weeks. Then the flakes come back, along with the itch. Dark shirts get retired. The cycle repeats for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5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ynSkyn_100420252941minks_media.jpg"/>
          <p:cNvPicPr>
            <a:picLocks noChangeAspect="1"/>
          </p:cNvPicPr>
          <p:nvPr/>
        </p:nvPicPr>
        <p:blipFill>
          <a:blip r:embed="rId2"/>
          <a:srcRect t="16030" b="45624"/>
          <a:stretch>
            <a:fillRect/>
          </a:stretch>
        </p:blipFill>
        <p:spPr>
          <a:xfrm>
            <a:off x="0" y="0"/>
            <a:ext cx="10287000" cy="5915025"/>
          </a:xfrm>
          <a:prstGeom prst="rect">
            <a:avLst/>
          </a:prstGeom>
        </p:spPr>
      </p:pic>
      <p:pic>
        <p:nvPicPr>
          <p:cNvPr id="3" name="Picture 2" descr="star-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419725"/>
            <a:ext cx="990600" cy="99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24800" y="666750"/>
            <a:ext cx="1600200" cy="590550"/>
          </a:xfrm>
          <a:prstGeom prst="roundRect">
            <a:avLst>
              <a:gd name="adj" fmla="val 50000"/>
            </a:avLst>
          </a:prstGeom>
          <a:solidFill>
            <a:srgbClr val="2A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50" spc="300">
                <a:solidFill>
                  <a:srgbClr val="FFF4CE"/>
                </a:solidFill>
                <a:latin typeface="ABC Maxi Sharp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63627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C5DE55"/>
                </a:solidFill>
                <a:latin typeface="ABC Maxi Sharp"/>
              </a:rPr>
              <a:t>THE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6934200"/>
            <a:ext cx="8763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5250" b="0">
                <a:solidFill>
                  <a:srgbClr val="FFF4CE"/>
                </a:solidFill>
                <a:latin typeface="STK Bureau Serif"/>
              </a:rPr>
              <a:t>Recurring flakes usually have a name: seborrheic dermatitis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9525000"/>
            <a:ext cx="8763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50" b="0">
                <a:solidFill>
                  <a:srgbClr val="EBE7C0"/>
                </a:solidFill>
                <a:latin typeface="STK Bureau Sans"/>
              </a:rPr>
              <a:t>It's tied to Malassezia, a yeast that lives on nearly every scalp. Some skin reacts to it with flaking and itch. That reaction is medical, and the shampoo aisle was never built to treat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tif-orang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9620250"/>
            <a:ext cx="4762500" cy="4762500"/>
          </a:xfrm>
          <a:prstGeom prst="rect">
            <a:avLst/>
          </a:prstGeom>
        </p:spPr>
      </p:pic>
      <p:pic>
        <p:nvPicPr>
          <p:cNvPr id="3" name="Picture 2" descr="star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905000"/>
            <a:ext cx="723900" cy="723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0" y="7048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950" b="0" spc="300">
                <a:solidFill>
                  <a:srgbClr val="641220"/>
                </a:solidFill>
                <a:latin typeface="ABC Maxi Sharp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76225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C54427"/>
                </a:solidFill>
                <a:latin typeface="ABC Maxi Sharp"/>
              </a:rPr>
              <a:t>THE WAIT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429000"/>
            <a:ext cx="6667500" cy="295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0" b="0">
                <a:solidFill>
                  <a:srgbClr val="641220"/>
                </a:solidFill>
                <a:latin typeface="STK Bureau Serif"/>
              </a:rPr>
              <a:t>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6362700"/>
            <a:ext cx="5715000" cy="1190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250" b="0">
                <a:solidFill>
                  <a:srgbClr val="C54427"/>
                </a:solidFill>
                <a:latin typeface="STK Bureau Serif"/>
              </a:rPr>
              <a:t>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8115300"/>
            <a:ext cx="8001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0">
                <a:solidFill>
                  <a:srgbClr val="2A0208"/>
                </a:solidFill>
                <a:latin typeface="STK Bureau Sans"/>
              </a:rPr>
              <a:t>The average time spent chasing a wrong diagnosis for a chronic skin condition. Flaking gets written off as dryness or product buildup while the actual cause goes untreated.</a:t>
            </a:r>
          </a:p>
        </p:txBody>
      </p:sp>
      <p:pic>
        <p:nvPicPr>
          <p:cNvPr id="9" name="Picture 8" descr="Kyn Skyn Logoword Black 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1715750"/>
            <a:ext cx="816729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5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0" y="7048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950" b="0" spc="300">
                <a:solidFill>
                  <a:srgbClr val="C5FEFF"/>
                </a:solidFill>
                <a:latin typeface="ABC Maxi Sharp"/>
              </a:rPr>
              <a:t>05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" y="8382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C5FEFF"/>
                </a:solidFill>
                <a:latin typeface="ABC Maxi Sharp"/>
              </a:rPr>
              <a:t>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447800"/>
            <a:ext cx="8572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5700" b="0">
                <a:solidFill>
                  <a:srgbClr val="FFF4CE"/>
                </a:solidFill>
                <a:latin typeface="STK Bureau Serif"/>
              </a:rPr>
              <a:t>Washing flakes away isn't the same as treating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4476750"/>
            <a:ext cx="8572500" cy="2762250"/>
          </a:xfrm>
          <a:prstGeom prst="roundRect">
            <a:avLst>
              <a:gd name="adj" fmla="val 8275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28750" y="499110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spc="375">
                <a:solidFill>
                  <a:srgbClr val="C54427"/>
                </a:solidFill>
                <a:latin typeface="ABC Maxi Sharp"/>
              </a:rPr>
              <a:t>THE SHAMPOO AISLE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5638800"/>
            <a:ext cx="7429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0">
                <a:solidFill>
                  <a:srgbClr val="2A0208"/>
                </a:solidFill>
                <a:latin typeface="STK Bureau Sans"/>
              </a:rPr>
              <a:t>Lifts flakes off the surface. The yeast underneath stays.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7581900"/>
            <a:ext cx="8572500" cy="2762250"/>
          </a:xfrm>
          <a:prstGeom prst="roundRect">
            <a:avLst>
              <a:gd name="adj" fmla="val 8275"/>
            </a:avLst>
          </a:prstGeom>
          <a:solidFill>
            <a:srgbClr val="2A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80962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spc="375">
                <a:solidFill>
                  <a:srgbClr val="F8B044"/>
                </a:solidFill>
                <a:latin typeface="ABC Maxi Sharp"/>
              </a:rPr>
              <a:t>PRESCRIPTION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8743950"/>
            <a:ext cx="7429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0">
                <a:solidFill>
                  <a:srgbClr val="FFF4CE"/>
                </a:solidFill>
                <a:latin typeface="STK Bureau Sans"/>
              </a:rPr>
              <a:t>Targets the yeast and calms the inflammation it triggers.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ynSkyn_100420251972minks_media.jpg"/>
          <p:cNvPicPr>
            <a:picLocks noChangeAspect="1"/>
          </p:cNvPicPr>
          <p:nvPr/>
        </p:nvPicPr>
        <p:blipFill>
          <a:blip r:embed="rId2"/>
          <a:srcRect t="3661" b="12980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overlay-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24800" y="666750"/>
            <a:ext cx="1600200" cy="590550"/>
          </a:xfrm>
          <a:prstGeom prst="roundRect">
            <a:avLst>
              <a:gd name="adj" fmla="val 50000"/>
            </a:avLst>
          </a:prstGeom>
          <a:solidFill>
            <a:srgbClr val="2A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50" spc="300">
                <a:solidFill>
                  <a:srgbClr val="FFF4CE"/>
                </a:solidFill>
                <a:latin typeface="ABC Maxi Sharp"/>
              </a:rPr>
              <a:t>06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50" y="5638800"/>
            <a:ext cx="8953500" cy="6553200"/>
          </a:xfrm>
          <a:prstGeom prst="roundRect">
            <a:avLst>
              <a:gd name="adj" fmla="val 4069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28750" y="6362700"/>
            <a:ext cx="742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C54427"/>
                </a:solidFill>
                <a:latin typeface="ABC Maxi Sharp"/>
              </a:rPr>
              <a:t>OFTEN MISSED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6953250"/>
            <a:ext cx="752475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50" b="0">
                <a:solidFill>
                  <a:srgbClr val="2A0208"/>
                </a:solidFill>
                <a:latin typeface="STK Bureau Serif"/>
              </a:rPr>
              <a:t>On darker skin, it rarely looks like the textbook photos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9315450"/>
            <a:ext cx="752475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0">
                <a:solidFill>
                  <a:srgbClr val="2A0208"/>
                </a:solidFill>
                <a:latin typeface="STK Bureau Sans"/>
              </a:rPr>
              <a:t>Flaking can show up as lighter patches, ring-shaped spots, or irritation along the hairline. On deeper skin tones these signs get misread more often. Care should know what to look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tif-whit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-1714500"/>
            <a:ext cx="5334000" cy="533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838200"/>
            <a:ext cx="6667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F8B044"/>
                </a:solidFill>
                <a:latin typeface="ABC Maxi Sharp"/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428750"/>
            <a:ext cx="762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300" b="0">
                <a:solidFill>
                  <a:srgbClr val="FFF4CE"/>
                </a:solidFill>
                <a:latin typeface="STK Bureau Serif"/>
              </a:rPr>
              <a:t>The short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50" y="2905125"/>
            <a:ext cx="8572500" cy="19050"/>
          </a:xfrm>
          <a:prstGeom prst="rect">
            <a:avLst/>
          </a:prstGeom>
          <a:solidFill>
            <a:srgbClr val="8B4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3286125"/>
            <a:ext cx="47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>
                <a:solidFill>
                  <a:srgbClr val="D4952A"/>
                </a:solidFill>
                <a:latin typeface="ABC Maxi Shar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7350" y="3305175"/>
            <a:ext cx="7772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75" b="0">
                <a:solidFill>
                  <a:srgbClr val="FFF4CE"/>
                </a:solidFill>
                <a:latin typeface="STK Bureau Sans"/>
              </a:rPr>
              <a:t>Flakes that keep coming back are usually a yeast reaction, not dryness.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250" y="4686300"/>
            <a:ext cx="8572500" cy="19050"/>
          </a:xfrm>
          <a:prstGeom prst="rect">
            <a:avLst/>
          </a:prstGeom>
          <a:solidFill>
            <a:srgbClr val="8B4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5067300"/>
            <a:ext cx="47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>
                <a:solidFill>
                  <a:srgbClr val="D4952A"/>
                </a:solidFill>
                <a:latin typeface="ABC Maxi Shar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7350" y="5086350"/>
            <a:ext cx="7772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75" b="0">
                <a:solidFill>
                  <a:srgbClr val="FFF4CE"/>
                </a:solidFill>
                <a:latin typeface="STK Bureau Sans"/>
              </a:rPr>
              <a:t>Shampoo manages the symptom. Treatment addresses the cause.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" y="6467475"/>
            <a:ext cx="8572500" cy="19050"/>
          </a:xfrm>
          <a:prstGeom prst="rect">
            <a:avLst/>
          </a:prstGeom>
          <a:solidFill>
            <a:srgbClr val="8B4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6848475"/>
            <a:ext cx="47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>
                <a:solidFill>
                  <a:srgbClr val="D4952A"/>
                </a:solidFill>
                <a:latin typeface="ABC Maxi Sharp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7350" y="6867525"/>
            <a:ext cx="7772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75" b="0">
                <a:solidFill>
                  <a:srgbClr val="FFF4CE"/>
                </a:solidFill>
                <a:latin typeface="STK Bureau Sans"/>
              </a:rPr>
              <a:t>Darker skin shows different signs, and they get missed more often.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8248650"/>
            <a:ext cx="8572500" cy="19050"/>
          </a:xfrm>
          <a:prstGeom prst="rect">
            <a:avLst/>
          </a:prstGeom>
          <a:solidFill>
            <a:srgbClr val="8B4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8629650"/>
            <a:ext cx="47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>
                <a:solidFill>
                  <a:srgbClr val="D4952A"/>
                </a:solidFill>
                <a:latin typeface="ABC Maxi Sharp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350" y="8648700"/>
            <a:ext cx="7772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75" b="0">
                <a:solidFill>
                  <a:srgbClr val="FFF4CE"/>
                </a:solidFill>
                <a:latin typeface="STK Bureau Sans"/>
              </a:rPr>
              <a:t>A provider can tell the difference from clear photos and history.</a:t>
            </a:r>
          </a:p>
        </p:txBody>
      </p:sp>
      <p:pic>
        <p:nvPicPr>
          <p:cNvPr id="17" name="Picture 16" descr="Kyn Skyn Logoword White 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1715750"/>
            <a:ext cx="816729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0" y="11763375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950" b="0" spc="300">
                <a:solidFill>
                  <a:srgbClr val="D0B09A"/>
                </a:solidFill>
                <a:latin typeface="ABC Maxi Sharp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762000"/>
            <a:ext cx="3429000" cy="609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924800" y="666750"/>
            <a:ext cx="1600200" cy="590550"/>
          </a:xfrm>
          <a:prstGeom prst="roundRect">
            <a:avLst>
              <a:gd name="adj" fmla="val 50000"/>
            </a:avLst>
          </a:prstGeom>
          <a:solidFill>
            <a:srgbClr val="2A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50" spc="300">
                <a:solidFill>
                  <a:srgbClr val="FFF4CE"/>
                </a:solidFill>
                <a:latin typeface="ABC Maxi Sharp"/>
              </a:rP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838200"/>
            <a:ext cx="4953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spc="450">
                <a:solidFill>
                  <a:srgbClr val="C54427"/>
                </a:solidFill>
                <a:latin typeface="ABC Maxi Sharp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428750"/>
            <a:ext cx="4953000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0">
                <a:solidFill>
                  <a:srgbClr val="2A0208"/>
                </a:solidFill>
                <a:latin typeface="STK Bureau Serif"/>
              </a:rPr>
              <a:t>Scalp care, reviewed by a licensed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819650"/>
            <a:ext cx="495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25" b="0">
                <a:solidFill>
                  <a:srgbClr val="2A0208"/>
                </a:solidFill>
                <a:latin typeface="STK Bureau Sans"/>
              </a:rPr>
              <a:t>Kyn Skyn connects patients with licensed providers who review photos and history online, then build a treatment plan. No waiting room.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7391400"/>
            <a:ext cx="8572500" cy="4705350"/>
          </a:xfrm>
          <a:prstGeom prst="roundRect">
            <a:avLst>
              <a:gd name="adj" fmla="val 5668"/>
            </a:avLst>
          </a:prstGeom>
          <a:solidFill>
            <a:srgbClr val="64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yn Skyn Logoword White 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50" y="8001000"/>
            <a:ext cx="775893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28750" y="7867650"/>
            <a:ext cx="5715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spc="375">
                <a:solidFill>
                  <a:srgbClr val="D4952A"/>
                </a:solidFill>
                <a:latin typeface="ABC Maxi Sharp"/>
              </a:rPr>
              <a:t>MONTHLY CARE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8362950"/>
            <a:ext cx="45720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0">
                <a:solidFill>
                  <a:srgbClr val="F8B044"/>
                </a:solidFill>
                <a:latin typeface="STK Bureau Serif"/>
              </a:rPr>
              <a:t>$29.99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895350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50" b="0">
                <a:solidFill>
                  <a:srgbClr val="FFF4CE"/>
                </a:solidFill>
                <a:latin typeface="STK Bureau Sans"/>
              </a:rPr>
              <a:t>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9677400"/>
            <a:ext cx="6667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75" b="0">
                <a:solidFill>
                  <a:srgbClr val="F2E2C0"/>
                </a:solidFill>
                <a:latin typeface="STK Bureau Sans"/>
              </a:rPr>
              <a:t>Provider review and treatment plan included. Check‑ins after.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0" y="10782300"/>
            <a:ext cx="4191000" cy="914400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50">
                <a:solidFill>
                  <a:srgbClr val="2A0208"/>
                </a:solidFill>
                <a:latin typeface="STK Bureau Sans"/>
              </a:rPr>
              <a:t>Get a Kynsultation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750" y="11029950"/>
            <a:ext cx="2667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25" b="0">
                <a:solidFill>
                  <a:srgbClr val="D4952A"/>
                </a:solidFill>
                <a:latin typeface="STK Bureau Sans"/>
              </a:rPr>
              <a:t>kynskyn.com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